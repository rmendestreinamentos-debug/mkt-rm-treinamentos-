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ubik One" charset="1" panose="02000604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Relationship Id="rId5" Target="../media/image11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9.jpe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0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375677"/>
            <a:ext cx="18288000" cy="8229600"/>
          </a:xfrm>
          <a:custGeom>
            <a:avLst/>
            <a:gdLst/>
            <a:ahLst/>
            <a:cxnLst/>
            <a:rect r="r" b="b" t="t" l="l"/>
            <a:pathLst>
              <a:path h="8229600" w="18288000">
                <a:moveTo>
                  <a:pt x="0" y="0"/>
                </a:moveTo>
                <a:lnTo>
                  <a:pt x="18288000" y="0"/>
                </a:lnTo>
                <a:lnTo>
                  <a:pt x="18288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00" r="0" b="-1250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688779" y="5855047"/>
            <a:ext cx="736999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036699"/>
            <a:ext cx="8233030" cy="8229600"/>
          </a:xfrm>
          <a:custGeom>
            <a:avLst/>
            <a:gdLst/>
            <a:ahLst/>
            <a:cxnLst/>
            <a:rect r="r" b="b" t="t" l="l"/>
            <a:pathLst>
              <a:path h="8229600" w="8233030">
                <a:moveTo>
                  <a:pt x="0" y="0"/>
                </a:moveTo>
                <a:lnTo>
                  <a:pt x="8233030" y="0"/>
                </a:lnTo>
                <a:lnTo>
                  <a:pt x="82330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85633" y="121989"/>
            <a:ext cx="12783845" cy="8229600"/>
          </a:xfrm>
          <a:custGeom>
            <a:avLst/>
            <a:gdLst/>
            <a:ahLst/>
            <a:cxnLst/>
            <a:rect r="r" b="b" t="t" l="l"/>
            <a:pathLst>
              <a:path h="8229600" w="12783845">
                <a:moveTo>
                  <a:pt x="0" y="0"/>
                </a:moveTo>
                <a:lnTo>
                  <a:pt x="12783844" y="0"/>
                </a:lnTo>
                <a:lnTo>
                  <a:pt x="127838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39935" y="60995"/>
            <a:ext cx="9841161" cy="10165011"/>
          </a:xfrm>
          <a:custGeom>
            <a:avLst/>
            <a:gdLst/>
            <a:ahLst/>
            <a:cxnLst/>
            <a:rect r="r" b="b" t="t" l="l"/>
            <a:pathLst>
              <a:path h="10165011" w="9841161">
                <a:moveTo>
                  <a:pt x="0" y="0"/>
                </a:moveTo>
                <a:lnTo>
                  <a:pt x="9841161" y="0"/>
                </a:lnTo>
                <a:lnTo>
                  <a:pt x="9841161" y="10165010"/>
                </a:lnTo>
                <a:lnTo>
                  <a:pt x="0" y="10165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610" r="0" b="-2261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9714" y="3590798"/>
            <a:ext cx="9316347" cy="155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  <a:spcBef>
                <a:spcPct val="0"/>
              </a:spcBef>
            </a:pPr>
            <a:r>
              <a:rPr lang="en-US" sz="449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CONTRATO DE HONORÁRIOS:</a:t>
            </a:r>
            <a:r>
              <a:rPr lang="en-US" sz="449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DUAS VEZES MAIS RENTÁVEL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946" y="5969347"/>
            <a:ext cx="8391882" cy="81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  <a:spcBef>
                <a:spcPct val="0"/>
              </a:spcBef>
            </a:pPr>
            <a:r>
              <a:rPr lang="en-US" sz="237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COMO T</a:t>
            </a:r>
            <a:r>
              <a:rPr lang="en-US" sz="237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RANSFORMAR CADA CLÁUSULA EM FONTE DE RECEITA LEGÍTIMA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239062" y="7250815"/>
            <a:ext cx="4057650" cy="908371"/>
          </a:xfrm>
          <a:custGeom>
            <a:avLst/>
            <a:gdLst/>
            <a:ahLst/>
            <a:cxnLst/>
            <a:rect r="r" b="b" t="t" l="l"/>
            <a:pathLst>
              <a:path h="908371" w="4057650">
                <a:moveTo>
                  <a:pt x="0" y="0"/>
                </a:moveTo>
                <a:lnTo>
                  <a:pt x="4057650" y="0"/>
                </a:lnTo>
                <a:lnTo>
                  <a:pt x="4057650" y="908371"/>
                </a:lnTo>
                <a:lnTo>
                  <a:pt x="0" y="908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625759" y="3994776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434286" y="0"/>
            <a:ext cx="6853714" cy="10287000"/>
          </a:xfrm>
          <a:custGeom>
            <a:avLst/>
            <a:gdLst/>
            <a:ahLst/>
            <a:cxnLst/>
            <a:rect r="r" b="b" t="t" l="l"/>
            <a:pathLst>
              <a:path h="10287000" w="6853714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6241" y="2638059"/>
            <a:ext cx="12248033" cy="213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1"/>
              </a:lnSpc>
              <a:spcBef>
                <a:spcPct val="0"/>
              </a:spcBef>
            </a:pP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O ACOLHIM</a:t>
            </a: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ENTO DO CLIENTE</a:t>
            </a:r>
          </a:p>
          <a:p>
            <a:pPr algn="ctr">
              <a:lnSpc>
                <a:spcPts val="858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99227"/>
            <a:ext cx="12123116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IMP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ORTÂNCIA DA </a:t>
            </a:r>
            <a:r>
              <a:rPr lang="en-US" sz="2999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PRIMEIRA IMPRESSÃO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MOSTRAR </a:t>
            </a:r>
            <a:r>
              <a:rPr lang="en-US" sz="2999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CLAREZA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E </a:t>
            </a:r>
            <a:r>
              <a:rPr lang="en-US" sz="2999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SEGURANÇA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NO CONTRATO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EXPLICAR T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ODAS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AS FORMAS DE COBRANÇA DE FOR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MA </a:t>
            </a:r>
            <a:r>
              <a:rPr lang="en-US" sz="2999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TRANSPARENTE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9606" y="2335125"/>
            <a:ext cx="6788788" cy="6785959"/>
          </a:xfrm>
          <a:custGeom>
            <a:avLst/>
            <a:gdLst/>
            <a:ahLst/>
            <a:cxnLst/>
            <a:rect r="r" b="b" t="t" l="l"/>
            <a:pathLst>
              <a:path h="6785959" w="6788788">
                <a:moveTo>
                  <a:pt x="0" y="0"/>
                </a:moveTo>
                <a:lnTo>
                  <a:pt x="6788788" y="0"/>
                </a:lnTo>
                <a:lnTo>
                  <a:pt x="6788788" y="6785959"/>
                </a:lnTo>
                <a:lnTo>
                  <a:pt x="0" y="6785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6539857" y="2121778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163553" y="2702738"/>
            <a:ext cx="7960894" cy="5970671"/>
            <a:chOff x="0" y="0"/>
            <a:chExt cx="10614526" cy="79608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40371" y="792077"/>
              <a:ext cx="9940008" cy="6414752"/>
            </a:xfrm>
            <a:custGeom>
              <a:avLst/>
              <a:gdLst/>
              <a:ahLst/>
              <a:cxnLst/>
              <a:rect r="r" b="b" t="t" l="l"/>
              <a:pathLst>
                <a:path h="6414752" w="9940008">
                  <a:moveTo>
                    <a:pt x="0" y="0"/>
                  </a:moveTo>
                  <a:lnTo>
                    <a:pt x="9940008" y="0"/>
                  </a:lnTo>
                  <a:lnTo>
                    <a:pt x="9940008" y="6414752"/>
                  </a:lnTo>
                  <a:lnTo>
                    <a:pt x="0" y="6414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223" t="-40635" r="-29911" b="-32064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14526" cy="7960894"/>
            </a:xfrm>
            <a:custGeom>
              <a:avLst/>
              <a:gdLst/>
              <a:ahLst/>
              <a:cxnLst/>
              <a:rect r="r" b="b" t="t" l="l"/>
              <a:pathLst>
                <a:path h="7960894" w="10614526">
                  <a:moveTo>
                    <a:pt x="0" y="0"/>
                  </a:moveTo>
                  <a:lnTo>
                    <a:pt x="10614526" y="0"/>
                  </a:lnTo>
                  <a:lnTo>
                    <a:pt x="10614526" y="7960894"/>
                  </a:lnTo>
                  <a:lnTo>
                    <a:pt x="0" y="7960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463174" y="5767"/>
            <a:ext cx="7361652" cy="213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1"/>
              </a:lnSpc>
              <a:spcBef>
                <a:spcPct val="0"/>
              </a:spcBef>
            </a:pP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PRIM</a:t>
            </a: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EIRA FORMA DE COBRANÇA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3243" y="2539691"/>
            <a:ext cx="9501513" cy="97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  <a:spcBef>
                <a:spcPct val="0"/>
              </a:spcBef>
            </a:pPr>
            <a:r>
              <a:rPr lang="en-US" sz="283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VAL</a:t>
            </a:r>
            <a:r>
              <a:rPr lang="en-US" sz="283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ORES FIXOS CONFORME O ÊXIT</a:t>
            </a:r>
            <a:r>
              <a:rPr lang="en-US" sz="283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O</a:t>
            </a:r>
            <a:r>
              <a:rPr lang="en-US" sz="283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LÍQUIDO:</a:t>
            </a:r>
          </a:p>
          <a:p>
            <a:pPr algn="l">
              <a:lnSpc>
                <a:spcPts val="396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29371" y="8616259"/>
            <a:ext cx="140292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ESTRATÉGIA: CLIENT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 PAGA DE ACORDO COM A VANTAGEM OBTIDA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27485" y="1028700"/>
            <a:ext cx="8233030" cy="8229600"/>
          </a:xfrm>
          <a:custGeom>
            <a:avLst/>
            <a:gdLst/>
            <a:ahLst/>
            <a:cxnLst/>
            <a:rect r="r" b="b" t="t" l="l"/>
            <a:pathLst>
              <a:path h="8229600" w="8233030">
                <a:moveTo>
                  <a:pt x="0" y="0"/>
                </a:moveTo>
                <a:lnTo>
                  <a:pt x="8233030" y="0"/>
                </a:lnTo>
                <a:lnTo>
                  <a:pt x="82330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553005" y="2674206"/>
            <a:ext cx="7383290" cy="5537468"/>
            <a:chOff x="0" y="0"/>
            <a:chExt cx="9844387" cy="73832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1243" y="586030"/>
              <a:ext cx="9360608" cy="6211231"/>
            </a:xfrm>
            <a:custGeom>
              <a:avLst/>
              <a:gdLst/>
              <a:ahLst/>
              <a:cxnLst/>
              <a:rect r="r" b="b" t="t" l="l"/>
              <a:pathLst>
                <a:path h="6211231" w="9360608">
                  <a:moveTo>
                    <a:pt x="0" y="0"/>
                  </a:moveTo>
                  <a:lnTo>
                    <a:pt x="9360608" y="0"/>
                  </a:lnTo>
                  <a:lnTo>
                    <a:pt x="9360608" y="6211231"/>
                  </a:lnTo>
                  <a:lnTo>
                    <a:pt x="0" y="621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91" t="-1807" r="-11191" b="-2108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44387" cy="7383290"/>
            </a:xfrm>
            <a:custGeom>
              <a:avLst/>
              <a:gdLst/>
              <a:ahLst/>
              <a:cxnLst/>
              <a:rect r="r" b="b" t="t" l="l"/>
              <a:pathLst>
                <a:path h="7383290" w="9844387">
                  <a:moveTo>
                    <a:pt x="0" y="0"/>
                  </a:moveTo>
                  <a:lnTo>
                    <a:pt x="9844387" y="0"/>
                  </a:lnTo>
                  <a:lnTo>
                    <a:pt x="9844387" y="7383290"/>
                  </a:lnTo>
                  <a:lnTo>
                    <a:pt x="0" y="7383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86716" y="121025"/>
            <a:ext cx="6133031" cy="2880208"/>
            <a:chOff x="0" y="0"/>
            <a:chExt cx="8177375" cy="3840278"/>
          </a:xfrm>
        </p:grpSpPr>
        <p:sp>
          <p:nvSpPr>
            <p:cNvPr name="AutoShape 8" id="8"/>
            <p:cNvSpPr/>
            <p:nvPr/>
          </p:nvSpPr>
          <p:spPr>
            <a:xfrm>
              <a:off x="1195988" y="2490436"/>
              <a:ext cx="5785400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-95250"/>
              <a:ext cx="8177375" cy="3540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49"/>
                </a:lnSpc>
                <a:spcBef>
                  <a:spcPct val="0"/>
                </a:spcBef>
              </a:pPr>
              <a:r>
                <a:rPr lang="en-US" sz="5106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S</a:t>
              </a:r>
              <a:r>
                <a:rPr lang="en-US" sz="5106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EGUNDA FORMA DE COBRANÇA</a:t>
              </a:r>
            </a:p>
            <a:p>
              <a:pPr algn="ctr">
                <a:lnSpc>
                  <a:spcPts val="7149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45122" y="2701812"/>
              <a:ext cx="6487130" cy="1138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HONORÁRIOS PRÓ-SUCESSO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53005" y="8473563"/>
            <a:ext cx="8233529" cy="151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  <a:spcBef>
                <a:spcPct val="0"/>
              </a:spcBef>
            </a:pPr>
            <a:r>
              <a:rPr lang="en-US" sz="291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ESTRATÉGIA: CLIENT</a:t>
            </a:r>
            <a:r>
              <a:rPr lang="en-US" sz="291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 PAGA DE ACORDO COM A VANTAGEM OBTIDA</a:t>
            </a:r>
          </a:p>
          <a:p>
            <a:pPr algn="l">
              <a:lnSpc>
                <a:spcPts val="408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936295" y="4787898"/>
            <a:ext cx="5251014" cy="682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PERCENTUAIS PROGRESSIVOS SOBRE O VALOR BRUTO: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482207" y="3238370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8115300" cy="291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3"/>
              </a:lnSpc>
              <a:spcBef>
                <a:spcPct val="0"/>
              </a:spcBef>
            </a:pPr>
            <a:r>
              <a:rPr lang="en-US" sz="555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TERCEIRA FORMA</a:t>
            </a:r>
            <a:r>
              <a:rPr lang="en-US" sz="555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DE COBRANÇA</a:t>
            </a:r>
          </a:p>
          <a:p>
            <a:pPr algn="ctr">
              <a:lnSpc>
                <a:spcPts val="7783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75238"/>
            <a:ext cx="12123116" cy="505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RECURS</a:t>
            </a:r>
            <a:r>
              <a:rPr lang="en-US" sz="3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O (TRT)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ACRÉSCIMO DE 5% SOBRE OS HONORÁRIOS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TETO MÁXIMO: 38%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47698" indent="-323849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JU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STIFICATIVA: COMPLEXIDADE E TEMPO EXTRA 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FASE RECU</a:t>
            </a:r>
            <a:r>
              <a:rPr lang="en-US" sz="2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RSAL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6380" y="2749616"/>
            <a:ext cx="7015241" cy="7012318"/>
          </a:xfrm>
          <a:custGeom>
            <a:avLst/>
            <a:gdLst/>
            <a:ahLst/>
            <a:cxnLst/>
            <a:rect r="r" b="b" t="t" l="l"/>
            <a:pathLst>
              <a:path h="7012318" w="7015241">
                <a:moveTo>
                  <a:pt x="0" y="0"/>
                </a:moveTo>
                <a:lnTo>
                  <a:pt x="7015240" y="0"/>
                </a:lnTo>
                <a:lnTo>
                  <a:pt x="7015240" y="7012318"/>
                </a:lnTo>
                <a:lnTo>
                  <a:pt x="0" y="7012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6539857" y="2529767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375346" y="3901019"/>
            <a:ext cx="7537307" cy="4709511"/>
            <a:chOff x="0" y="0"/>
            <a:chExt cx="10049743" cy="6279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679"/>
              <a:ext cx="9964166" cy="6079669"/>
            </a:xfrm>
            <a:custGeom>
              <a:avLst/>
              <a:gdLst/>
              <a:ahLst/>
              <a:cxnLst/>
              <a:rect r="r" b="b" t="t" l="l"/>
              <a:pathLst>
                <a:path h="6079669" w="9964166">
                  <a:moveTo>
                    <a:pt x="0" y="0"/>
                  </a:moveTo>
                  <a:lnTo>
                    <a:pt x="9964166" y="0"/>
                  </a:lnTo>
                  <a:lnTo>
                    <a:pt x="9964166" y="6079669"/>
                  </a:lnTo>
                  <a:lnTo>
                    <a:pt x="0" y="607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12" t="-3321" r="-7161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49743" cy="6279348"/>
            </a:xfrm>
            <a:custGeom>
              <a:avLst/>
              <a:gdLst/>
              <a:ahLst/>
              <a:cxnLst/>
              <a:rect r="r" b="b" t="t" l="l"/>
              <a:pathLst>
                <a:path h="6279348" w="10049743">
                  <a:moveTo>
                    <a:pt x="0" y="0"/>
                  </a:moveTo>
                  <a:lnTo>
                    <a:pt x="10049743" y="0"/>
                  </a:lnTo>
                  <a:lnTo>
                    <a:pt x="10049743" y="6279348"/>
                  </a:lnTo>
                  <a:lnTo>
                    <a:pt x="0" y="627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010" t="-16847" r="-2609" b="-993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591763" y="57800"/>
            <a:ext cx="7104474" cy="213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1"/>
              </a:lnSpc>
              <a:spcBef>
                <a:spcPct val="0"/>
              </a:spcBef>
            </a:pP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QUAR</a:t>
            </a: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TA FORMA DE COBRANÇA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9615" y="2825762"/>
            <a:ext cx="9928771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PRÓ-LABORE – CÁLCULO DA INICIAL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539857" y="2529767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676155" y="3273949"/>
            <a:ext cx="8935689" cy="6701767"/>
            <a:chOff x="0" y="0"/>
            <a:chExt cx="11914252" cy="8935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14252" cy="8935689"/>
            </a:xfrm>
            <a:custGeom>
              <a:avLst/>
              <a:gdLst/>
              <a:ahLst/>
              <a:cxnLst/>
              <a:rect r="r" b="b" t="t" l="l"/>
              <a:pathLst>
                <a:path h="8935689" w="11914252">
                  <a:moveTo>
                    <a:pt x="0" y="0"/>
                  </a:moveTo>
                  <a:lnTo>
                    <a:pt x="11914252" y="0"/>
                  </a:lnTo>
                  <a:lnTo>
                    <a:pt x="11914252" y="8935689"/>
                  </a:lnTo>
                  <a:lnTo>
                    <a:pt x="0" y="893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78197" y="5227348"/>
              <a:ext cx="2666533" cy="2031104"/>
            </a:xfrm>
            <a:custGeom>
              <a:avLst/>
              <a:gdLst/>
              <a:ahLst/>
              <a:cxnLst/>
              <a:rect r="r" b="b" t="t" l="l"/>
              <a:pathLst>
                <a:path h="2031104" w="2666533">
                  <a:moveTo>
                    <a:pt x="0" y="0"/>
                  </a:moveTo>
                  <a:lnTo>
                    <a:pt x="2666533" y="0"/>
                  </a:lnTo>
                  <a:lnTo>
                    <a:pt x="2666533" y="2031103"/>
                  </a:lnTo>
                  <a:lnTo>
                    <a:pt x="0" y="2031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58556" y="3992199"/>
              <a:ext cx="2417445" cy="3560581"/>
            </a:xfrm>
            <a:custGeom>
              <a:avLst/>
              <a:gdLst/>
              <a:ahLst/>
              <a:cxnLst/>
              <a:rect r="r" b="b" t="t" l="l"/>
              <a:pathLst>
                <a:path h="3560581" w="2417445">
                  <a:moveTo>
                    <a:pt x="0" y="0"/>
                  </a:moveTo>
                  <a:lnTo>
                    <a:pt x="2417445" y="0"/>
                  </a:lnTo>
                  <a:lnTo>
                    <a:pt x="2417445" y="3560581"/>
                  </a:lnTo>
                  <a:lnTo>
                    <a:pt x="0" y="356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63" t="0" r="-1036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989827" y="3301969"/>
              <a:ext cx="2654437" cy="3418332"/>
            </a:xfrm>
            <a:custGeom>
              <a:avLst/>
              <a:gdLst/>
              <a:ahLst/>
              <a:cxnLst/>
              <a:rect r="r" b="b" t="t" l="l"/>
              <a:pathLst>
                <a:path h="3418332" w="2654437">
                  <a:moveTo>
                    <a:pt x="0" y="0"/>
                  </a:moveTo>
                  <a:lnTo>
                    <a:pt x="2654437" y="0"/>
                  </a:lnTo>
                  <a:lnTo>
                    <a:pt x="2654437" y="3418332"/>
                  </a:lnTo>
                  <a:lnTo>
                    <a:pt x="0" y="3418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0441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858090" y="2538482"/>
              <a:ext cx="2510044" cy="3858725"/>
            </a:xfrm>
            <a:custGeom>
              <a:avLst/>
              <a:gdLst/>
              <a:ahLst/>
              <a:cxnLst/>
              <a:rect r="r" b="b" t="t" l="l"/>
              <a:pathLst>
                <a:path h="3858725" w="2510044">
                  <a:moveTo>
                    <a:pt x="0" y="0"/>
                  </a:moveTo>
                  <a:lnTo>
                    <a:pt x="2510045" y="0"/>
                  </a:lnTo>
                  <a:lnTo>
                    <a:pt x="2510045" y="3858725"/>
                  </a:lnTo>
                  <a:lnTo>
                    <a:pt x="0" y="3858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91763" y="57800"/>
            <a:ext cx="7104474" cy="321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1"/>
              </a:lnSpc>
              <a:spcBef>
                <a:spcPct val="0"/>
              </a:spcBef>
            </a:pP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QUIN</a:t>
            </a:r>
            <a:r>
              <a:rPr lang="en-US" sz="612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TA FORMA DE COBRANÇA</a:t>
            </a:r>
          </a:p>
          <a:p>
            <a:pPr algn="ctr">
              <a:lnSpc>
                <a:spcPts val="858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521273" y="2825762"/>
            <a:ext cx="11245453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PRÓ-LABORE – CÁLCULO DE LIQUIDAÇÃO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75238"/>
            <a:ext cx="12123116" cy="458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HONORÁ</a:t>
            </a:r>
            <a:r>
              <a:rPr lang="en-US" sz="399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RIOS DE SUCUMBÊNCIA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NÃO PREJUDICA OS </a:t>
            </a:r>
            <a:r>
              <a:rPr lang="en-US" sz="3000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HONORÁRIOS CONTRAT</a:t>
            </a:r>
            <a:r>
              <a:rPr lang="en-US" sz="3000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UAI</a:t>
            </a:r>
            <a:r>
              <a:rPr lang="en-US" sz="3000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GARANTIA MÍNIMA DE </a:t>
            </a:r>
            <a:r>
              <a:rPr lang="en-US" sz="3000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15</a:t>
            </a:r>
            <a:r>
              <a:rPr lang="en-US" sz="3000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%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FONTE</a:t>
            </a:r>
            <a:r>
              <a:rPr lang="en-US" sz="3000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 ADICIONAL</a:t>
            </a:r>
            <a:r>
              <a:rPr lang="en-US" sz="3000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DE RECEIT</a:t>
            </a:r>
            <a:r>
              <a:rPr lang="en-US" sz="3000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A NO ACORDO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2482207" y="3238370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923925"/>
            <a:ext cx="8115300" cy="193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3"/>
              </a:lnSpc>
              <a:spcBef>
                <a:spcPct val="0"/>
              </a:spcBef>
            </a:pPr>
            <a:r>
              <a:rPr lang="en-US" sz="555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SEXTA FORMA</a:t>
            </a:r>
            <a:r>
              <a:rPr lang="en-US" sz="555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DE COBRANÇA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8856" y="2671984"/>
            <a:ext cx="7310287" cy="7307241"/>
          </a:xfrm>
          <a:custGeom>
            <a:avLst/>
            <a:gdLst/>
            <a:ahLst/>
            <a:cxnLst/>
            <a:rect r="r" b="b" t="t" l="l"/>
            <a:pathLst>
              <a:path h="7307241" w="7310287">
                <a:moveTo>
                  <a:pt x="0" y="0"/>
                </a:moveTo>
                <a:lnTo>
                  <a:pt x="7310288" y="0"/>
                </a:lnTo>
                <a:lnTo>
                  <a:pt x="7310288" y="7307242"/>
                </a:lnTo>
                <a:lnTo>
                  <a:pt x="0" y="7307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6539857" y="2958503"/>
            <a:ext cx="520828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300743" y="3392910"/>
            <a:ext cx="9686515" cy="5865390"/>
            <a:chOff x="0" y="0"/>
            <a:chExt cx="12915353" cy="7820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6989" y="472470"/>
              <a:ext cx="4018525" cy="7241062"/>
            </a:xfrm>
            <a:custGeom>
              <a:avLst/>
              <a:gdLst/>
              <a:ahLst/>
              <a:cxnLst/>
              <a:rect r="r" b="b" t="t" l="l"/>
              <a:pathLst>
                <a:path h="7241062" w="4018525">
                  <a:moveTo>
                    <a:pt x="0" y="0"/>
                  </a:moveTo>
                  <a:lnTo>
                    <a:pt x="4018524" y="0"/>
                  </a:lnTo>
                  <a:lnTo>
                    <a:pt x="4018524" y="7241061"/>
                  </a:lnTo>
                  <a:lnTo>
                    <a:pt x="0" y="7241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627" t="-5289" r="-236543" b="-402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461599" y="472470"/>
              <a:ext cx="4027574" cy="7241062"/>
            </a:xfrm>
            <a:custGeom>
              <a:avLst/>
              <a:gdLst/>
              <a:ahLst/>
              <a:cxnLst/>
              <a:rect r="r" b="b" t="t" l="l"/>
              <a:pathLst>
                <a:path h="7241062" w="4027574">
                  <a:moveTo>
                    <a:pt x="0" y="0"/>
                  </a:moveTo>
                  <a:lnTo>
                    <a:pt x="4027574" y="0"/>
                  </a:lnTo>
                  <a:lnTo>
                    <a:pt x="4027574" y="7241061"/>
                  </a:lnTo>
                  <a:lnTo>
                    <a:pt x="0" y="7241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8958" t="-19197" r="-8202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906159" y="1025507"/>
              <a:ext cx="3932080" cy="6688024"/>
            </a:xfrm>
            <a:custGeom>
              <a:avLst/>
              <a:gdLst/>
              <a:ahLst/>
              <a:cxnLst/>
              <a:rect r="r" b="b" t="t" l="l"/>
              <a:pathLst>
                <a:path h="6688024" w="3932080">
                  <a:moveTo>
                    <a:pt x="0" y="0"/>
                  </a:moveTo>
                  <a:lnTo>
                    <a:pt x="3932080" y="0"/>
                  </a:lnTo>
                  <a:lnTo>
                    <a:pt x="3932080" y="6688024"/>
                  </a:lnTo>
                  <a:lnTo>
                    <a:pt x="0" y="6688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0067" t="-21358" r="-74061" b="-8983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15353" cy="7820520"/>
            </a:xfrm>
            <a:custGeom>
              <a:avLst/>
              <a:gdLst/>
              <a:ahLst/>
              <a:cxnLst/>
              <a:rect r="r" b="b" t="t" l="l"/>
              <a:pathLst>
                <a:path h="7820520" w="12915353">
                  <a:moveTo>
                    <a:pt x="0" y="0"/>
                  </a:moveTo>
                  <a:lnTo>
                    <a:pt x="12915353" y="0"/>
                  </a:lnTo>
                  <a:lnTo>
                    <a:pt x="12915353" y="7820520"/>
                  </a:lnTo>
                  <a:lnTo>
                    <a:pt x="0" y="7820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30" t="-23469" r="-2603" b="-625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086350" y="923925"/>
            <a:ext cx="8115300" cy="291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3"/>
              </a:lnSpc>
              <a:spcBef>
                <a:spcPct val="0"/>
              </a:spcBef>
            </a:pPr>
            <a:r>
              <a:rPr lang="en-US" sz="555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SÉTIMA FORMA</a:t>
            </a:r>
            <a:r>
              <a:rPr lang="en-US" sz="5559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DE COBRANÇA</a:t>
            </a:r>
          </a:p>
          <a:p>
            <a:pPr algn="ctr">
              <a:lnSpc>
                <a:spcPts val="7783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81761"/>
            <a:ext cx="9595775" cy="584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6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POR QUE ESSE CONTRATO É 2X MAIS RENTÁVEL?</a:t>
            </a:r>
          </a:p>
          <a:p>
            <a:pPr algn="l">
              <a:lnSpc>
                <a:spcPts val="4432"/>
              </a:lnSpc>
            </a:pPr>
          </a:p>
          <a:p>
            <a:pPr algn="l" marL="512673" indent="-256336" lvl="1">
              <a:lnSpc>
                <a:spcPts val="3324"/>
              </a:lnSpc>
              <a:spcBef>
                <a:spcPct val="0"/>
              </a:spcBef>
              <a:buFont typeface="Arial"/>
              <a:buChar char="•"/>
            </a:pPr>
            <a:r>
              <a:rPr lang="en-US" sz="2374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DIVE</a:t>
            </a:r>
            <a:r>
              <a:rPr lang="en-US" sz="2374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RSIFICAÇÃO </a:t>
            </a:r>
            <a:r>
              <a:rPr lang="en-US" sz="237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DAS FORMAS DE COBRANÇA</a:t>
            </a:r>
          </a:p>
          <a:p>
            <a:pPr algn="l">
              <a:lnSpc>
                <a:spcPts val="3324"/>
              </a:lnSpc>
              <a:spcBef>
                <a:spcPct val="0"/>
              </a:spcBef>
            </a:pPr>
          </a:p>
          <a:p>
            <a:pPr algn="l" marL="512673" indent="-256336" lvl="1">
              <a:lnSpc>
                <a:spcPts val="3324"/>
              </a:lnSpc>
              <a:spcBef>
                <a:spcPct val="0"/>
              </a:spcBef>
              <a:buFont typeface="Arial"/>
              <a:buChar char="•"/>
            </a:pPr>
            <a:r>
              <a:rPr lang="en-US" sz="2374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CLAREZA </a:t>
            </a:r>
            <a:r>
              <a:rPr lang="en-US" sz="237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PARA O CLIENTE → MENOS DISCUSSÃO FUTURA</a:t>
            </a:r>
          </a:p>
          <a:p>
            <a:pPr algn="l">
              <a:lnSpc>
                <a:spcPts val="3324"/>
              </a:lnSpc>
              <a:spcBef>
                <a:spcPct val="0"/>
              </a:spcBef>
            </a:pPr>
          </a:p>
          <a:p>
            <a:pPr algn="l" marL="512673" indent="-256336" lvl="1">
              <a:lnSpc>
                <a:spcPts val="3324"/>
              </a:lnSpc>
              <a:spcBef>
                <a:spcPct val="0"/>
              </a:spcBef>
              <a:buFont typeface="Arial"/>
              <a:buChar char="•"/>
            </a:pPr>
            <a:r>
              <a:rPr lang="en-US" sz="2374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VALORIZAÇÃO</a:t>
            </a:r>
            <a:r>
              <a:rPr lang="en-US" sz="237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DO TRABALHO EM CA</a:t>
            </a:r>
            <a:r>
              <a:rPr lang="en-US" sz="237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 ETAPA</a:t>
            </a:r>
          </a:p>
          <a:p>
            <a:pPr algn="l">
              <a:lnSpc>
                <a:spcPts val="3324"/>
              </a:lnSpc>
              <a:spcBef>
                <a:spcPct val="0"/>
              </a:spcBef>
            </a:pPr>
          </a:p>
          <a:p>
            <a:pPr algn="l" marL="512673" indent="-256336" lvl="1">
              <a:lnSpc>
                <a:spcPts val="3324"/>
              </a:lnSpc>
              <a:spcBef>
                <a:spcPct val="0"/>
              </a:spcBef>
              <a:buFont typeface="Arial"/>
              <a:buChar char="•"/>
            </a:pPr>
            <a:r>
              <a:rPr lang="en-US" sz="2374">
                <a:solidFill>
                  <a:srgbClr val="F59A00"/>
                </a:solidFill>
                <a:latin typeface="Rubik One"/>
                <a:ea typeface="Rubik One"/>
                <a:cs typeface="Rubik One"/>
                <a:sym typeface="Rubik One"/>
              </a:rPr>
              <a:t>POSSIBILIDADE</a:t>
            </a:r>
            <a:r>
              <a:rPr lang="en-US" sz="237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DE RECEIT</a:t>
            </a:r>
            <a:r>
              <a:rPr lang="en-US" sz="237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A FIXA + PERCENTUAL + SUCUMBÊNCIA</a:t>
            </a:r>
          </a:p>
          <a:p>
            <a:pPr algn="l">
              <a:lnSpc>
                <a:spcPts val="3324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3310598" y="2135410"/>
            <a:ext cx="430178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0624475" y="0"/>
            <a:ext cx="7663525" cy="10287000"/>
          </a:xfrm>
          <a:custGeom>
            <a:avLst/>
            <a:gdLst/>
            <a:ahLst/>
            <a:cxnLst/>
            <a:rect r="r" b="b" t="t" l="l"/>
            <a:pathLst>
              <a:path h="10287000" w="7663525">
                <a:moveTo>
                  <a:pt x="7663525" y="0"/>
                </a:moveTo>
                <a:lnTo>
                  <a:pt x="0" y="0"/>
                </a:lnTo>
                <a:lnTo>
                  <a:pt x="0" y="10287000"/>
                </a:lnTo>
                <a:lnTo>
                  <a:pt x="7663525" y="10287000"/>
                </a:lnTo>
                <a:lnTo>
                  <a:pt x="7663525" y="0"/>
                </a:lnTo>
                <a:close/>
              </a:path>
            </a:pathLst>
          </a:custGeom>
          <a:blipFill>
            <a:blip r:embed="rId3"/>
            <a:stretch>
              <a:fillRect l="-3152" t="-7562" r="0" b="-756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4097" y="942975"/>
            <a:ext cx="8404981" cy="779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8"/>
              </a:lnSpc>
              <a:spcBef>
                <a:spcPct val="0"/>
              </a:spcBef>
            </a:pPr>
            <a:r>
              <a:rPr lang="en-US" sz="459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 FECHAMENTO/REFL</a:t>
            </a:r>
            <a:r>
              <a:rPr lang="en-US" sz="4591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EXÃO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9514974"/>
            <a:ext cx="3448601" cy="772026"/>
          </a:xfrm>
          <a:custGeom>
            <a:avLst/>
            <a:gdLst/>
            <a:ahLst/>
            <a:cxnLst/>
            <a:rect r="r" b="b" t="t" l="l"/>
            <a:pathLst>
              <a:path h="772026" w="3448601">
                <a:moveTo>
                  <a:pt x="0" y="0"/>
                </a:moveTo>
                <a:lnTo>
                  <a:pt x="3448601" y="0"/>
                </a:lnTo>
                <a:lnTo>
                  <a:pt x="3448601" y="772026"/>
                </a:lnTo>
                <a:lnTo>
                  <a:pt x="0" y="772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99" t="-257051" r="-21739" b="-28904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DAHIVh33ljo</dc:identifier>
  <dcterms:modified xsi:type="dcterms:W3CDTF">2011-08-01T06:04:30Z</dcterms:modified>
  <cp:revision>1</cp:revision>
  <dc:title>Contrato de Honorários: Duas Vezes Mais Rentável</dc:title>
</cp:coreProperties>
</file>